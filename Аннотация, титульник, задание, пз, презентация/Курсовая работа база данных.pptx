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6" r:id="rId4"/>
    <p:sldId id="268" r:id="rId5"/>
    <p:sldId id="269" r:id="rId6"/>
    <p:sldId id="259" r:id="rId7"/>
    <p:sldId id="260" r:id="rId8"/>
    <p:sldId id="261" r:id="rId9"/>
    <p:sldId id="263" r:id="rId10"/>
    <p:sldId id="267" r:id="rId11"/>
    <p:sldId id="264" r:id="rId12"/>
    <p:sldId id="272" r:id="rId13"/>
    <p:sldId id="273" r:id="rId14"/>
    <p:sldId id="274" r:id="rId15"/>
    <p:sldId id="275" r:id="rId16"/>
    <p:sldId id="277" r:id="rId17"/>
    <p:sldId id="278" r:id="rId18"/>
    <p:sldId id="276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8E367FBA-6535-4C3B-A0D7-F15CAE562E03}">
          <p14:sldIdLst>
            <p14:sldId id="256"/>
            <p14:sldId id="257"/>
            <p14:sldId id="266"/>
            <p14:sldId id="268"/>
            <p14:sldId id="269"/>
            <p14:sldId id="259"/>
            <p14:sldId id="260"/>
            <p14:sldId id="261"/>
            <p14:sldId id="263"/>
            <p14:sldId id="267"/>
            <p14:sldId id="264"/>
            <p14:sldId id="272"/>
            <p14:sldId id="273"/>
            <p14:sldId id="274"/>
            <p14:sldId id="275"/>
            <p14:sldId id="277"/>
            <p14:sldId id="278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98311-1EAD-4A9D-8830-D8CB89AD7743}" type="datetimeFigureOut">
              <a:rPr lang="ru-RU" smtClean="0"/>
              <a:t>26.12.2024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A4B81B-B31B-4CDA-96FE-ECB4DB0AD2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1710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CBF22E-7F2C-1CCC-E964-A34BA30EB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C9B5459-A99F-E51D-4024-36E8E76D2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DACACF-6E30-D38E-AB6B-8AA93EAA5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3CF1-2381-4C03-962F-AA893213C5AE}" type="datetime1">
              <a:rPr lang="ru-RU" smtClean="0"/>
              <a:t>26.12.2024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10211A-ACE6-9072-502D-CB58FFC4F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6D4F08-2F26-CA8D-B65E-9000E6BB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23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BDC1F6-AF5F-FAB0-C957-EB5802297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54A77-B88E-8DCD-C620-7C4B152C5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9B9479-2047-6A9D-0AA8-92C276388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2A82-3F61-453E-8316-549AA1557473}" type="datetime1">
              <a:rPr lang="ru-RU" smtClean="0"/>
              <a:t>26.12.2024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D98BA-00FE-25D5-0F1F-2DEC2362C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CAD0E-CAFE-23D8-2A81-19D77AB1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3250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8FCE20-B6B9-2F5D-4005-A8D44EFD1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508B86-7DDD-4881-666C-FBFAEF279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42905E-FFD2-8923-BA12-07922A326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2461-2290-4B3A-AB3E-EDD0C0D0CF3C}" type="datetime1">
              <a:rPr lang="ru-RU" smtClean="0"/>
              <a:t>26.12.2024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99D119-014E-DBC6-5911-4BC59CC8E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352522-E3D4-068A-EC02-51A62A0A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919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3D48A-53B5-BE12-CBE5-1A2F6218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60B3E0-45DE-3D88-CA62-1DF91D725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6B68AE-C4B7-2FB7-8331-EE077A4DF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8D9FC8-475F-3DF2-353A-A5574EF16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C8E1-FF07-47C8-824A-5F98B435274C}" type="datetime1">
              <a:rPr lang="ru-RU" smtClean="0"/>
              <a:t>26.12.2024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10211D-202E-DAEC-A4AE-E10AB97FE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B91F5F-C5EE-CD96-4BE6-DD20A683C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310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CD725D-7208-12D3-36EB-3B2B4DC7D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96DA0F-0301-9E63-4ABB-8DF0D7951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604701-8BB3-509C-2DA8-A7C2F9F20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8ADC168-B1B3-BB3D-589B-A10206929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FCA87EB-33DD-1C7A-3F81-913537C7C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DAEF499-1DB3-92AC-E27A-0BC74BBE3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2098-5568-49B7-8CD9-26DBE3C265FB}" type="datetime1">
              <a:rPr lang="ru-RU" smtClean="0"/>
              <a:t>26.12.2024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30C288B-94AD-9C58-0E15-24B6E0057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AB3B794-3BAF-2B7F-9C04-B0496EAD5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089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9425F-A258-5557-848E-2DC11C75A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F9392C8-D69F-5196-24E8-43C4DC87A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D1E5-A2C6-489E-8213-AC80D9C9E2C9}" type="datetime1">
              <a:rPr lang="ru-RU" smtClean="0"/>
              <a:t>26.12.2024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7C094F7-C9A4-65AF-0EE4-065018E74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1BC1C46-7B54-E9B3-2CBE-696A41800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513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96EE864-5A05-B5FA-C79D-8B613C83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2189-0E46-45B2-B530-4D9E6AF88754}" type="datetime1">
              <a:rPr lang="ru-RU" smtClean="0"/>
              <a:t>26.12.2024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E6634F0-7464-70C7-2657-DBA71CEC0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324A58-555E-D593-874B-45AC189F2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306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016FF-47AD-C69A-44E5-AC1AC0A8E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F4963E-2F64-528C-5ED7-CA1D1B083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4179DF-E72F-FB93-B737-FB86FD13B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7097C8-4567-09C1-4FB4-E9DD6687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51BF6-9A17-497B-996B-6F2A481319F5}" type="datetime1">
              <a:rPr lang="ru-RU" smtClean="0"/>
              <a:t>26.12.2024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5C3AD9-DA19-D0B8-8BE5-AB0588995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541943-03AB-BFBC-2F80-5F5E116BE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57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B727A7-7604-1F3C-CC29-6478818AE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DEBC23A-D41E-BD8B-AC97-DD39BDDBFA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A9E4BFF-DA9E-BE30-DB2F-970E7734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8DA650-5BFF-4E80-DD91-04237EB9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D6F4-E851-412F-8B9C-A118710EF81A}" type="datetime1">
              <a:rPr lang="ru-RU" smtClean="0"/>
              <a:t>26.12.2024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394A79-CDDE-0E2C-5CB9-89DB6D9F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FBDE39-5E14-04EF-6A6D-5316CA9F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61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064B84-50BC-A488-AFDE-94D7842E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912489-C6AF-C263-45C1-8E1F116E7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B5663C-2458-857E-7C71-FF7A7D4EF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EA050-B1F9-4758-803D-DA02C02B864F}" type="datetime1">
              <a:rPr lang="ru-RU" smtClean="0"/>
              <a:t>26.12.2024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F409D3-802A-B53A-A486-AF7D4571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1DD782-FF09-BE4D-E97F-E13254CB4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418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61E809D-CF7D-FC41-9C14-5F41859056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52E071-58E9-B45C-85CC-3B4AB6D79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BCE41B-E523-3502-353F-ECF92FBE7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4B29A-0C31-429B-BA0C-F967431A32E3}" type="datetime1">
              <a:rPr lang="ru-RU" smtClean="0"/>
              <a:t>26.12.2024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F4CFC7-815C-DAA4-4280-C52A9F1A8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97F549-1A5D-D1DA-39C6-20DDDB72F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563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8EDAD-73E0-01FB-5A5A-DE7FEEE8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0D65E2-A522-2B3F-271F-DDBB7A91F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AD12A6-4D8C-C643-130D-74DF2C459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1849F-DABB-40D3-952D-95ADC3CCF5FC}" type="datetime1">
              <a:rPr lang="ru-RU" smtClean="0"/>
              <a:t>26.12.2024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15C11D-FFF7-5B94-0E3E-ECF9851BE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1186F4-7AD4-E55C-C2D4-A5B8340FA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DE450-EAE8-4D1D-A792-B8D7B682B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8898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C7D794-0965-0F6B-25AD-97CD6D3F4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422" y="185689"/>
            <a:ext cx="11443316" cy="910624"/>
          </a:xfrm>
        </p:spPr>
        <p:txBody>
          <a:bodyPr>
            <a:no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Муромский институт (филиал) федерального государственного бюджетного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образовательного учреждения высшего образования «Владимирский государственный университет имени Александра Григорьевича и Николая Григорьевича Столетовых».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BD1E1E1-8120-7DCC-C38C-E279AE720185}"/>
              </a:ext>
            </a:extLst>
          </p:cNvPr>
          <p:cNvSpPr txBox="1">
            <a:spLocks/>
          </p:cNvSpPr>
          <p:nvPr/>
        </p:nvSpPr>
        <p:spPr>
          <a:xfrm>
            <a:off x="0" y="1679799"/>
            <a:ext cx="11658456" cy="7903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Курсовая работа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8A81BF2-5EB7-4C8C-E8E3-D01CBC9F1550}"/>
              </a:ext>
            </a:extLst>
          </p:cNvPr>
          <p:cNvSpPr txBox="1">
            <a:spLocks/>
          </p:cNvSpPr>
          <p:nvPr/>
        </p:nvSpPr>
        <p:spPr>
          <a:xfrm>
            <a:off x="160422" y="2761914"/>
            <a:ext cx="11658456" cy="7903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Разработка АИС отдела по грузоперевозкам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B8E66B-38FF-A6AF-42D0-99268C5B9530}"/>
              </a:ext>
            </a:extLst>
          </p:cNvPr>
          <p:cNvSpPr txBox="1"/>
          <p:nvPr/>
        </p:nvSpPr>
        <p:spPr>
          <a:xfrm>
            <a:off x="1790512" y="4448980"/>
            <a:ext cx="83982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ИБ-122 Болотин Д.П.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кандидат технических наук, доцент Колпаков А.А.</a:t>
            </a:r>
            <a:endParaRPr lang="ru-RU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942119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ABA2DF5-A708-B2BB-A9F0-05F5DE607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93" y="405197"/>
            <a:ext cx="10515600" cy="6031113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 создание ИС для работы с БД грузоперевозок, которая будет обеспечивать удобное взаимодействие пользователей и персонала.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algn="just">
              <a:lnSpc>
                <a:spcPct val="150000"/>
              </a:lnSpc>
              <a:spcAft>
                <a:spcPts val="700"/>
              </a:spcAft>
              <a:buSzPts val="14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модели данных.</a:t>
            </a:r>
          </a:p>
          <a:p>
            <a:pPr algn="just">
              <a:lnSpc>
                <a:spcPct val="150000"/>
              </a:lnSpc>
              <a:spcAft>
                <a:spcPts val="700"/>
              </a:spcAft>
              <a:buSzPts val="14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базу данных.</a:t>
            </a:r>
          </a:p>
          <a:p>
            <a:pPr algn="just">
              <a:lnSpc>
                <a:spcPct val="150000"/>
              </a:lnSpc>
              <a:spcAft>
                <a:spcPts val="700"/>
              </a:spcAft>
              <a:buSzPts val="14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многопользовательское приложение.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F6D720A-8301-9FE5-5693-F6386054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2</a:t>
            </a:fld>
            <a:r>
              <a:rPr lang="en-US" dirty="0"/>
              <a:t>/19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6285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945F6B-4BA0-291D-E60C-5D005A929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72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языков программирования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C2ACC297-63FB-E0F5-B3D2-9F18F2A67C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8206514"/>
              </p:ext>
            </p:extLst>
          </p:nvPr>
        </p:nvGraphicFramePr>
        <p:xfrm>
          <a:off x="838200" y="1454289"/>
          <a:ext cx="10515597" cy="486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0562537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8920791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29225108"/>
                    </a:ext>
                  </a:extLst>
                </a:gridCol>
              </a:tblGrid>
              <a:tr h="6956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Критерий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C++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C#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1357440"/>
                  </a:ext>
                </a:extLst>
              </a:tr>
              <a:tr h="6956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Производительность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Средняя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3023765"/>
                  </a:ext>
                </a:extLst>
              </a:tr>
              <a:tr h="6956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Сложность использования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Сложная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Простая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0789440"/>
                  </a:ext>
                </a:extLst>
              </a:tr>
              <a:tr h="6956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Гибкость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Средняя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2661828"/>
                  </a:ext>
                </a:extLst>
              </a:tr>
              <a:tr h="6956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Интеграция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Ограниченная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Отличная с .NET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9006725"/>
                  </a:ext>
                </a:extLst>
              </a:tr>
              <a:tr h="6956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Безопасность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Низкая (ручное управление памятью)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Высокая (автоматическая сборка мусора)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9254350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ACD5DB4-F65D-37DB-027C-C0E38EB50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3</a:t>
            </a:fld>
            <a:r>
              <a:rPr lang="en-US" dirty="0"/>
              <a:t>/19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671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121ED-75C3-454B-4DBF-D41121370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сред программирования</a:t>
            </a: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828874B6-CACD-0E00-2C33-6CE2C332E1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8255100"/>
              </p:ext>
            </p:extLst>
          </p:nvPr>
        </p:nvGraphicFramePr>
        <p:xfrm>
          <a:off x="838200" y="1233996"/>
          <a:ext cx="10515597" cy="4575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57036221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3811234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131045887"/>
                    </a:ext>
                  </a:extLst>
                </a:gridCol>
              </a:tblGrid>
              <a:tr h="708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Критерий</a:t>
                      </a:r>
                      <a:endParaRPr lang="ru-RU" sz="2400" kern="100" dirty="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Visual Studio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Eclipse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9394678"/>
                  </a:ext>
                </a:extLst>
              </a:tr>
              <a:tr h="708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Производительность</a:t>
                      </a:r>
                      <a:endParaRPr lang="ru-RU" sz="2400" kern="100" dirty="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Высокая</a:t>
                      </a:r>
                      <a:endParaRPr lang="ru-RU" sz="2400" kern="100" dirty="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Высокая</a:t>
                      </a:r>
                      <a:endParaRPr lang="ru-RU" sz="2400" kern="100" dirty="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7988068"/>
                  </a:ext>
                </a:extLst>
              </a:tr>
              <a:tr h="708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Простота</a:t>
                      </a:r>
                      <a:endParaRPr lang="ru-RU" sz="2400" kern="100" dirty="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Удобная</a:t>
                      </a:r>
                      <a:endParaRPr lang="ru-RU" sz="2400" kern="100" dirty="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Средняя</a:t>
                      </a:r>
                      <a:endParaRPr lang="ru-RU" sz="2400" kern="100" dirty="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6826445"/>
                  </a:ext>
                </a:extLst>
              </a:tr>
              <a:tr h="708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Гибкость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Высокая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Высокая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4188968"/>
                  </a:ext>
                </a:extLst>
              </a:tr>
              <a:tr h="708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Интеграция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Отличная с экосистемой MS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Кроссплатформенная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7018954"/>
                  </a:ext>
                </a:extLst>
              </a:tr>
              <a:tr h="708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Безопасность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Высокая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Высокая</a:t>
                      </a:r>
                      <a:endParaRPr lang="ru-RU" sz="2400" kern="100" dirty="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8841799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E317B4-8338-FB4C-F89D-97726A3C4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4</a:t>
            </a:fld>
            <a:r>
              <a:rPr lang="en-US" dirty="0"/>
              <a:t>/19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2997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CB1841-7B30-BB5D-E36B-E7EB5FFF2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СУБД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BF150E8-5A97-5EA1-593A-36CBDB4FC8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3095015"/>
              </p:ext>
            </p:extLst>
          </p:nvPr>
        </p:nvGraphicFramePr>
        <p:xfrm>
          <a:off x="838200" y="1482571"/>
          <a:ext cx="10515597" cy="4427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7265174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50029334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52178177"/>
                    </a:ext>
                  </a:extLst>
                </a:gridCol>
              </a:tblGrid>
              <a:tr h="6791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Критерий</a:t>
                      </a:r>
                      <a:endParaRPr lang="ru-RU" sz="2400" kern="100" dirty="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SQLite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MySQL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2536110"/>
                  </a:ext>
                </a:extLst>
              </a:tr>
              <a:tr h="6791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Производительность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Высокая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Высокая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6845659"/>
                  </a:ext>
                </a:extLst>
              </a:tr>
              <a:tr h="6791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Простота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Простая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Средняя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3232088"/>
                  </a:ext>
                </a:extLst>
              </a:tr>
              <a:tr h="6791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Гибкость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Низкая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Высокая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0665638"/>
                  </a:ext>
                </a:extLst>
              </a:tr>
              <a:tr h="6791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Интеграция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Локальное хранилище данных</a:t>
                      </a:r>
                      <a:endParaRPr lang="ru-RU" sz="2400" kern="100" dirty="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Веб-разработка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2383961"/>
                  </a:ext>
                </a:extLst>
              </a:tr>
              <a:tr h="6791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Безопасность</a:t>
                      </a:r>
                      <a:endParaRPr lang="ru-RU" sz="2400" kern="10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Высокая</a:t>
                      </a:r>
                      <a:endParaRPr lang="ru-RU" sz="2400" kern="100" dirty="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7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Arial" panose="020B0604020202020204" pitchFamily="34" charset="0"/>
                        </a:rPr>
                        <a:t>Высокая</a:t>
                      </a:r>
                      <a:endParaRPr lang="ru-RU" sz="2400" kern="100" dirty="0">
                        <a:effectLst/>
                        <a:latin typeface="Liberation Serif"/>
                        <a:ea typeface="NSimSun" panose="0201060903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1817312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DB2B904-0785-1BEE-0922-35219F04E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5</a:t>
            </a:fld>
            <a:r>
              <a:rPr lang="en-US" dirty="0"/>
              <a:t>/19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284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296C32-361E-4F35-48CB-44E202F5F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016" y="1"/>
            <a:ext cx="5937681" cy="759606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Концептуальная модель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9B2CEA-ED98-C672-B980-3BC880BA1C3A}"/>
              </a:ext>
            </a:extLst>
          </p:cNvPr>
          <p:cNvSpPr txBox="1"/>
          <p:nvPr/>
        </p:nvSpPr>
        <p:spPr>
          <a:xfrm>
            <a:off x="3127159" y="6354247"/>
            <a:ext cx="5051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3 – Концептуальная модель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2A3592-B595-DAC9-90F2-18305516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6</a:t>
            </a:fld>
            <a:r>
              <a:rPr lang="en-US" dirty="0"/>
              <a:t>/19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21DCC3-6C9D-479B-BA7F-C41C5C53D0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52450" y="759607"/>
            <a:ext cx="9067800" cy="545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11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62DD5-3418-0E76-B7E3-EB0AD6E0D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62"/>
            <a:ext cx="10515600" cy="407232"/>
          </a:xfrm>
        </p:spPr>
        <p:txBody>
          <a:bodyPr>
            <a:no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модель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D46A1-351D-A744-A55A-6DE140C1C783}"/>
              </a:ext>
            </a:extLst>
          </p:cNvPr>
          <p:cNvSpPr txBox="1"/>
          <p:nvPr/>
        </p:nvSpPr>
        <p:spPr>
          <a:xfrm>
            <a:off x="3863266" y="6336606"/>
            <a:ext cx="4465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4 – Логическая модель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9F70F0D-DB35-A92A-B30B-3FC6C71DF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7</a:t>
            </a:fld>
            <a:r>
              <a:rPr lang="en-US" dirty="0"/>
              <a:t>/19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16322C7-536E-47B6-96F5-FF1B3F55759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23974" y="847725"/>
            <a:ext cx="9020175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761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5040D0-AABC-8640-CDE9-398220135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92"/>
            <a:ext cx="10515600" cy="398355"/>
          </a:xfrm>
        </p:spPr>
        <p:txBody>
          <a:bodyPr>
            <a:no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Физическая модель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C33118-9B45-9EAD-B035-BD9E302821E5}"/>
              </a:ext>
            </a:extLst>
          </p:cNvPr>
          <p:cNvSpPr txBox="1"/>
          <p:nvPr/>
        </p:nvSpPr>
        <p:spPr>
          <a:xfrm>
            <a:off x="3879539" y="6244290"/>
            <a:ext cx="471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5 – Физическая модель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39D370B-E554-F67F-412F-B9574D05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8</a:t>
            </a:fld>
            <a:r>
              <a:rPr lang="en-US" dirty="0"/>
              <a:t>/9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15FFED4-5C47-4E09-A447-5A2EE96F15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62075" y="600075"/>
            <a:ext cx="8782050" cy="564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325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1FFB8-3946-2FA5-59A4-4D415D487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961"/>
            <a:ext cx="10515600" cy="788972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SQL-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06D130-E809-E2A5-9BFE-C09FDF874382}"/>
              </a:ext>
            </a:extLst>
          </p:cNvPr>
          <p:cNvSpPr txBox="1"/>
          <p:nvPr/>
        </p:nvSpPr>
        <p:spPr>
          <a:xfrm>
            <a:off x="488272" y="1020933"/>
            <a:ext cx="3249539" cy="5683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SELECT </a:t>
            </a:r>
            <a:endParaRPr lang="ru-RU" sz="1000" dirty="0">
              <a:effectLst/>
              <a:latin typeface="Cascadia Mono" panose="020B0609020000020004" pitchFamily="49" charset="0"/>
              <a:ea typeface="Calibri" panose="020F0502020204030204" pitchFamily="34" charset="0"/>
              <a:cs typeface="Cascadia Mono" panose="020B0609020000020004" pitchFamily="49" charset="0"/>
            </a:endParaRPr>
          </a:p>
          <a:p>
            <a:pPr>
              <a:spcAft>
                <a:spcPts val="1000"/>
              </a:spcAft>
            </a:pP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Договор.</a:t>
            </a: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ID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,</a:t>
            </a:r>
          </a:p>
          <a:p>
            <a:pPr>
              <a:spcAft>
                <a:spcPts val="1000"/>
              </a:spcAft>
            </a:pPr>
            <a:r>
              <a:rPr lang="ru-RU" sz="1000" dirty="0" err="1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Клиенты.ФИО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AS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ru-RU" sz="1000" dirty="0" err="1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ФИО_Клиента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,</a:t>
            </a:r>
          </a:p>
          <a:p>
            <a:pPr>
              <a:spcAft>
                <a:spcPts val="1000"/>
              </a:spcAft>
            </a:pPr>
            <a:r>
              <a:rPr lang="ru-RU" sz="1000" dirty="0" err="1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Поставщики.ФИО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AS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ru-RU" sz="1000" dirty="0" err="1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ФИО_Поставщика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,</a:t>
            </a:r>
          </a:p>
          <a:p>
            <a:pPr>
              <a:spcAft>
                <a:spcPts val="1000"/>
              </a:spcAft>
            </a:pPr>
            <a:r>
              <a:rPr lang="ru-RU" sz="1000" dirty="0" err="1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Водители.ФИО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AS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ru-RU" sz="1000" dirty="0" err="1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ФИО_Водителя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,</a:t>
            </a:r>
          </a:p>
          <a:p>
            <a:pPr>
              <a:spcAft>
                <a:spcPts val="1000"/>
              </a:spcAft>
            </a:pPr>
            <a:r>
              <a:rPr lang="ru-RU" sz="1000" dirty="0" err="1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Автомобили.Марка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|| ' ' || </a:t>
            </a:r>
            <a:r>
              <a:rPr lang="ru-RU" sz="1000" dirty="0" err="1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Автомобили.Модель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AS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ru-RU" sz="1000" dirty="0" err="1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Марка_и_Модель_Авто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ru-RU" sz="1000" dirty="0" err="1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Грузы.Название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AS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Груз</a:t>
            </a:r>
          </a:p>
          <a:p>
            <a:pPr>
              <a:spcAft>
                <a:spcPts val="1000"/>
              </a:spcAft>
            </a:pP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FROM </a:t>
            </a:r>
            <a:endParaRPr lang="ru-RU" sz="1000" dirty="0">
              <a:effectLst/>
              <a:latin typeface="Cascadia Mono" panose="020B0609020000020004" pitchFamily="49" charset="0"/>
              <a:ea typeface="Calibri" panose="020F0502020204030204" pitchFamily="34" charset="0"/>
              <a:cs typeface="Cascadia Mono" panose="020B0609020000020004" pitchFamily="49" charset="0"/>
            </a:endParaRPr>
          </a:p>
          <a:p>
            <a:pPr>
              <a:spcAft>
                <a:spcPts val="1000"/>
              </a:spcAft>
            </a:pP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Договор</a:t>
            </a:r>
          </a:p>
          <a:p>
            <a:pPr>
              <a:spcAft>
                <a:spcPts val="1000"/>
              </a:spcAft>
            </a:pP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LEFT JOIN </a:t>
            </a:r>
            <a:endParaRPr lang="ru-RU" sz="1000" dirty="0">
              <a:effectLst/>
              <a:latin typeface="Cascadia Mono" panose="020B0609020000020004" pitchFamily="49" charset="0"/>
              <a:ea typeface="Calibri" panose="020F0502020204030204" pitchFamily="34" charset="0"/>
              <a:cs typeface="Cascadia Mono" panose="020B0609020000020004" pitchFamily="49" charset="0"/>
            </a:endParaRPr>
          </a:p>
          <a:p>
            <a:pPr>
              <a:spcAft>
                <a:spcPts val="1000"/>
              </a:spcAft>
            </a:pP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Клиенты </a:t>
            </a: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ON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Договор.</a:t>
            </a: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ID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_Клиента = Клиенты.</a:t>
            </a: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ID</a:t>
            </a:r>
            <a:endParaRPr lang="ru-RU" sz="1000" dirty="0">
              <a:effectLst/>
              <a:latin typeface="Cascadia Mono" panose="020B0609020000020004" pitchFamily="49" charset="0"/>
              <a:ea typeface="Calibri" panose="020F0502020204030204" pitchFamily="34" charset="0"/>
              <a:cs typeface="Cascadia Mono" panose="020B0609020000020004" pitchFamily="49" charset="0"/>
            </a:endParaRPr>
          </a:p>
          <a:p>
            <a:pPr>
              <a:spcAft>
                <a:spcPts val="1000"/>
              </a:spcAft>
            </a:pP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LEFT JOIN </a:t>
            </a:r>
            <a:endParaRPr lang="ru-RU" sz="1000" dirty="0">
              <a:effectLst/>
              <a:latin typeface="Cascadia Mono" panose="020B0609020000020004" pitchFamily="49" charset="0"/>
              <a:ea typeface="Calibri" panose="020F0502020204030204" pitchFamily="34" charset="0"/>
              <a:cs typeface="Cascadia Mono" panose="020B0609020000020004" pitchFamily="49" charset="0"/>
            </a:endParaRPr>
          </a:p>
          <a:p>
            <a:pPr>
              <a:spcAft>
                <a:spcPts val="1000"/>
              </a:spcAft>
            </a:pP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Поставщики </a:t>
            </a: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ON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Договор.</a:t>
            </a: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ID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_Поставщика = Поставщики.</a:t>
            </a: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ID</a:t>
            </a:r>
            <a:endParaRPr lang="ru-RU" sz="1000" dirty="0">
              <a:effectLst/>
              <a:latin typeface="Cascadia Mono" panose="020B0609020000020004" pitchFamily="49" charset="0"/>
              <a:ea typeface="Calibri" panose="020F0502020204030204" pitchFamily="34" charset="0"/>
              <a:cs typeface="Cascadia Mono" panose="020B0609020000020004" pitchFamily="49" charset="0"/>
            </a:endParaRPr>
          </a:p>
          <a:p>
            <a:pPr>
              <a:spcAft>
                <a:spcPts val="1000"/>
              </a:spcAft>
            </a:pP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LEFT JOIN </a:t>
            </a:r>
            <a:endParaRPr lang="ru-RU" sz="1000" dirty="0">
              <a:effectLst/>
              <a:latin typeface="Cascadia Mono" panose="020B0609020000020004" pitchFamily="49" charset="0"/>
              <a:ea typeface="Calibri" panose="020F0502020204030204" pitchFamily="34" charset="0"/>
              <a:cs typeface="Cascadia Mono" panose="020B0609020000020004" pitchFamily="49" charset="0"/>
            </a:endParaRPr>
          </a:p>
          <a:p>
            <a:pPr>
              <a:spcAft>
                <a:spcPts val="1000"/>
              </a:spcAft>
            </a:pP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Водители </a:t>
            </a: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ON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Договор.</a:t>
            </a: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ID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_Водителя = Водители.</a:t>
            </a: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ID</a:t>
            </a:r>
            <a:endParaRPr lang="ru-RU" sz="1000" dirty="0">
              <a:effectLst/>
              <a:latin typeface="Cascadia Mono" panose="020B0609020000020004" pitchFamily="49" charset="0"/>
              <a:ea typeface="Calibri" panose="020F0502020204030204" pitchFamily="34" charset="0"/>
              <a:cs typeface="Cascadia Mono" panose="020B0609020000020004" pitchFamily="49" charset="0"/>
            </a:endParaRPr>
          </a:p>
          <a:p>
            <a:pPr>
              <a:spcAft>
                <a:spcPts val="1000"/>
              </a:spcAft>
            </a:pP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LEFT JOIN </a:t>
            </a:r>
            <a:endParaRPr lang="ru-RU" sz="1000" dirty="0">
              <a:effectLst/>
              <a:latin typeface="Cascadia Mono" panose="020B0609020000020004" pitchFamily="49" charset="0"/>
              <a:ea typeface="Calibri" panose="020F0502020204030204" pitchFamily="34" charset="0"/>
              <a:cs typeface="Cascadia Mono" panose="020B0609020000020004" pitchFamily="49" charset="0"/>
            </a:endParaRPr>
          </a:p>
          <a:p>
            <a:pPr>
              <a:spcAft>
                <a:spcPts val="1000"/>
              </a:spcAft>
            </a:pP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Автомобили </a:t>
            </a: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ON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Договор.</a:t>
            </a: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ID</a:t>
            </a:r>
            <a:r>
              <a:rPr lang="ru-RU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_Автомобиля = Автомобили.</a:t>
            </a: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ID</a:t>
            </a:r>
            <a:endParaRPr lang="ru-RU" sz="1000" dirty="0">
              <a:effectLst/>
              <a:latin typeface="Cascadia Mono" panose="020B0609020000020004" pitchFamily="49" charset="0"/>
              <a:ea typeface="Calibri" panose="020F0502020204030204" pitchFamily="34" charset="0"/>
              <a:cs typeface="Cascadia Mono" panose="020B0609020000020004" pitchFamily="49" charset="0"/>
            </a:endParaRPr>
          </a:p>
          <a:p>
            <a:pPr>
              <a:spcAft>
                <a:spcPts val="1000"/>
              </a:spcAft>
            </a:pPr>
            <a:r>
              <a:rPr lang="en-US" sz="1000" dirty="0"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LEFT JOIN </a:t>
            </a:r>
            <a:endParaRPr lang="ru-RU" sz="1000" dirty="0">
              <a:effectLst/>
              <a:latin typeface="Cascadia Mono" panose="020B0609020000020004" pitchFamily="49" charset="0"/>
              <a:ea typeface="Calibri" panose="020F0502020204030204" pitchFamily="34" charset="0"/>
              <a:cs typeface="Cascadia Mono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6F92A2-1711-B4D3-D061-37BE61BB33D5}"/>
              </a:ext>
            </a:extLst>
          </p:cNvPr>
          <p:cNvSpPr txBox="1"/>
          <p:nvPr/>
        </p:nvSpPr>
        <p:spPr>
          <a:xfrm>
            <a:off x="6208452" y="342900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6 – Вывод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CFE9128-6291-8021-4EAD-A20606AE5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9</a:t>
            </a:fld>
            <a:r>
              <a:rPr lang="en-US" dirty="0"/>
              <a:t>/19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453E1DD-D673-4CEA-B263-DADA73A70CCA}"/>
              </a:ext>
            </a:extLst>
          </p:cNvPr>
          <p:cNvPicPr/>
          <p:nvPr/>
        </p:nvPicPr>
        <p:blipFill rotWithShape="1">
          <a:blip r:embed="rId2"/>
          <a:srcRect b="46835"/>
          <a:stretch/>
        </p:blipFill>
        <p:spPr>
          <a:xfrm>
            <a:off x="4163939" y="1667422"/>
            <a:ext cx="7018411" cy="126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84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DFF9CE-5854-F8D6-57BC-4E9EF5EFB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-запросов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863961-62E7-88F2-9B2E-2C3251E576A4}"/>
              </a:ext>
            </a:extLst>
          </p:cNvPr>
          <p:cNvSpPr txBox="1"/>
          <p:nvPr/>
        </p:nvSpPr>
        <p:spPr>
          <a:xfrm>
            <a:off x="715812" y="1282725"/>
            <a:ext cx="299805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INSERT INTO Клиент (Фамилия, Имя, Отчество, [</a:t>
            </a:r>
            <a:r>
              <a:rPr lang="ru-RU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Серия_паспорта</a:t>
            </a:r>
            <a:r>
              <a:rPr lang="ru-R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], [</a:t>
            </a:r>
            <a:r>
              <a:rPr lang="ru-RU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Номер_паспорта</a:t>
            </a:r>
            <a:r>
              <a:rPr lang="ru-R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], [</a:t>
            </a:r>
            <a:r>
              <a:rPr lang="ru-RU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Номер_телефона</a:t>
            </a:r>
            <a:r>
              <a:rPr lang="ru-R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], Почта, Адрес) VALUES (@surname, @name, @lastName, @seria, @number, @telephone, @mail, @address)" 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63604-4724-0A23-CB94-2043FF6E6EF7}"/>
              </a:ext>
            </a:extLst>
          </p:cNvPr>
          <p:cNvSpPr txBox="1"/>
          <p:nvPr/>
        </p:nvSpPr>
        <p:spPr>
          <a:xfrm>
            <a:off x="4807258" y="1719108"/>
            <a:ext cx="6094520" cy="2541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270510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UPDATE Клиент SET Фамилия = @surname, Имя = @name, Отчество = @lastName, [</a:t>
            </a:r>
            <a:r>
              <a:rPr lang="ru-RU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Серия_паспорта</a:t>
            </a:r>
            <a:r>
              <a:rPr lang="ru-R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] = @seria, [</a:t>
            </a:r>
            <a:r>
              <a:rPr lang="ru-RU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Номер_паспорта</a:t>
            </a:r>
            <a:r>
              <a:rPr lang="ru-R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] = @number, [</a:t>
            </a:r>
            <a:r>
              <a:rPr lang="ru-RU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Номер_телефона</a:t>
            </a:r>
            <a:r>
              <a:rPr lang="ru-R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] = @telephone, Почта = @mail, Адрес = @address WHERE ID = @id"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451593-52D2-3EB3-8573-0C893839F33D}"/>
              </a:ext>
            </a:extLst>
          </p:cNvPr>
          <p:cNvSpPr txBox="1"/>
          <p:nvPr/>
        </p:nvSpPr>
        <p:spPr>
          <a:xfrm>
            <a:off x="4807258" y="5346496"/>
            <a:ext cx="609452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270510">
              <a:lnSpc>
                <a:spcPct val="150000"/>
              </a:lnSpc>
              <a:spcAft>
                <a:spcPts val="1000"/>
              </a:spcAft>
            </a:pPr>
            <a:r>
              <a:rPr lang="en-US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DELETE FROM </a:t>
            </a:r>
            <a:r>
              <a:rPr lang="en-US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Клиент</a:t>
            </a:r>
            <a:r>
              <a:rPr lang="en-US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WHERE ID = @id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3DEA129-334F-8460-AEBC-6EA4DA4D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10</a:t>
            </a:fld>
            <a:r>
              <a:rPr lang="en-US" dirty="0"/>
              <a:t>/19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6228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290079-1040-E6E9-3AC6-E7DFB709F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53861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АИС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4386FE-8EE8-340E-09B7-3B22205C7CF2}"/>
              </a:ext>
            </a:extLst>
          </p:cNvPr>
          <p:cNvSpPr txBox="1"/>
          <p:nvPr/>
        </p:nvSpPr>
        <p:spPr>
          <a:xfrm>
            <a:off x="-377019" y="3974824"/>
            <a:ext cx="3515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7 – Окно авторизации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9C3850-9270-5C87-84F3-05347ED0CDC1}"/>
              </a:ext>
            </a:extLst>
          </p:cNvPr>
          <p:cNvSpPr txBox="1"/>
          <p:nvPr/>
        </p:nvSpPr>
        <p:spPr>
          <a:xfrm>
            <a:off x="2639569" y="4026834"/>
            <a:ext cx="3252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8 – Ввод данных от учетной записи клиента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5CF2A7-EAE9-135A-8690-3FBAC068B665}"/>
              </a:ext>
            </a:extLst>
          </p:cNvPr>
          <p:cNvSpPr txBox="1"/>
          <p:nvPr/>
        </p:nvSpPr>
        <p:spPr>
          <a:xfrm>
            <a:off x="5571498" y="4020991"/>
            <a:ext cx="3611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9 – Ввод данных от учетной записи администратора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9CF5F1A-AD05-1B0B-983B-092F63AB6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11</a:t>
            </a:fld>
            <a:r>
              <a:rPr lang="en-US" dirty="0"/>
              <a:t>/19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A13CF2-4BE9-C7F8-A270-9E7BD533C295}"/>
              </a:ext>
            </a:extLst>
          </p:cNvPr>
          <p:cNvSpPr txBox="1"/>
          <p:nvPr/>
        </p:nvSpPr>
        <p:spPr>
          <a:xfrm>
            <a:off x="8918453" y="4518029"/>
            <a:ext cx="3049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10 – Ошибка при авторизации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8DC393A-06EE-4FAB-AB35-C6FB9921A14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9390" y="908655"/>
            <a:ext cx="2302737" cy="301623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C11AC2B-5CAF-4794-BB6D-3F1EBDAC239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962390" y="908655"/>
            <a:ext cx="2698750" cy="311525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FDBFA50-A85A-4F4C-AF8E-F7C3616CF4B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114305" y="899890"/>
            <a:ext cx="2526315" cy="311525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8559280-16A6-4C82-9804-736B350ED22A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9015476" y="908655"/>
            <a:ext cx="3049085" cy="350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16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F3F68F-17E6-BDAB-7BD8-AD88B7196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621"/>
            <a:ext cx="10515600" cy="1325563"/>
          </a:xfrm>
        </p:spPr>
        <p:txBody>
          <a:bodyPr/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АИС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FDE27-ADDB-340E-3C18-F8B8B68AB3E7}"/>
              </a:ext>
            </a:extLst>
          </p:cNvPr>
          <p:cNvSpPr txBox="1"/>
          <p:nvPr/>
        </p:nvSpPr>
        <p:spPr>
          <a:xfrm>
            <a:off x="4021273" y="5582178"/>
            <a:ext cx="414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11 – Рабочее окно клиента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F279D7-BB10-9A93-EDA9-2DF39CC64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12</a:t>
            </a:fld>
            <a:r>
              <a:rPr lang="en-US" dirty="0"/>
              <a:t>/19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0E0A81A-11A2-4465-8065-AED7A15CDB7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47775" y="1095375"/>
            <a:ext cx="9658350" cy="44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894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48DFC-16C4-CA1C-2D2B-7B1A80CF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21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АИС</a:t>
            </a:r>
            <a:endParaRPr lang="ru-RU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25E5C-5724-2484-8177-5036F4373AD9}"/>
              </a:ext>
            </a:extLst>
          </p:cNvPr>
          <p:cNvSpPr txBox="1"/>
          <p:nvPr/>
        </p:nvSpPr>
        <p:spPr>
          <a:xfrm>
            <a:off x="659311" y="5031974"/>
            <a:ext cx="4636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12 – Пример страницы на форме администратора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614A6-A3A7-71FF-D434-84952DB8D49E}"/>
              </a:ext>
            </a:extLst>
          </p:cNvPr>
          <p:cNvSpPr txBox="1"/>
          <p:nvPr/>
        </p:nvSpPr>
        <p:spPr>
          <a:xfrm>
            <a:off x="6532113" y="4985807"/>
            <a:ext cx="4636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13 – Страница «Груз»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A6F368-D744-CA42-3614-894C578D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13</a:t>
            </a:fld>
            <a:r>
              <a:rPr lang="en-US" dirty="0"/>
              <a:t>/19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9796060-11B7-4DE4-9336-07ACB6012B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4465" y="1566774"/>
            <a:ext cx="5931535" cy="310038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6DF38B9-BB37-4CC0-BDDE-0F5A965C181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96024" y="1872193"/>
            <a:ext cx="5731511" cy="270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229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2934A0-92F0-124F-F55E-FDC491C67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7309" y="299109"/>
            <a:ext cx="7433603" cy="1384689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АИС</a:t>
            </a:r>
            <a:endParaRPr lang="ru-RU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B391D-3027-1DF8-A9D1-924120025333}"/>
              </a:ext>
            </a:extLst>
          </p:cNvPr>
          <p:cNvSpPr txBox="1"/>
          <p:nvPr/>
        </p:nvSpPr>
        <p:spPr>
          <a:xfrm>
            <a:off x="3676835" y="2556729"/>
            <a:ext cx="483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14 – Заполнение тестовых полей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F385BF-B532-8737-1BD3-BC58D13F3C1D}"/>
              </a:ext>
            </a:extLst>
          </p:cNvPr>
          <p:cNvSpPr txBox="1"/>
          <p:nvPr/>
        </p:nvSpPr>
        <p:spPr>
          <a:xfrm>
            <a:off x="2926032" y="5913033"/>
            <a:ext cx="6156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15 – Пример добавления записи в таблицу «Водители»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F4C861-DD17-986C-730B-8907399A6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14</a:t>
            </a:fld>
            <a:r>
              <a:rPr lang="en-US" dirty="0"/>
              <a:t>/19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E41413E-0E9F-4E72-AD09-A7C4B72EF23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81720" y="1464059"/>
            <a:ext cx="6300470" cy="101028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5222674-AA20-4978-8522-5FF1273268C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143124" y="3094561"/>
            <a:ext cx="7134225" cy="256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230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ED5C9-C76C-C034-A3F4-9E1EE084E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АИС</a:t>
            </a:r>
            <a:endParaRPr lang="ru-RU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FAEE8C-787A-63B7-D529-8D2847B0220B}"/>
              </a:ext>
            </a:extLst>
          </p:cNvPr>
          <p:cNvSpPr txBox="1"/>
          <p:nvPr/>
        </p:nvSpPr>
        <p:spPr>
          <a:xfrm>
            <a:off x="-580998" y="3106135"/>
            <a:ext cx="6156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16 – Выбор параметра поиска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02CCC5-B87B-CE89-5E64-2EF92D719C93}"/>
              </a:ext>
            </a:extLst>
          </p:cNvPr>
          <p:cNvSpPr txBox="1"/>
          <p:nvPr/>
        </p:nvSpPr>
        <p:spPr>
          <a:xfrm>
            <a:off x="5646998" y="3153688"/>
            <a:ext cx="6156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17 – Результат поиска в таблице «Водители»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AD8956-7FBD-0884-19AE-2B1B9D1AD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15</a:t>
            </a:fld>
            <a:r>
              <a:rPr lang="en-US" dirty="0"/>
              <a:t>/19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52DFE1-4361-DE55-AB37-9C4E0BA96D01}"/>
              </a:ext>
            </a:extLst>
          </p:cNvPr>
          <p:cNvSpPr txBox="1"/>
          <p:nvPr/>
        </p:nvSpPr>
        <p:spPr>
          <a:xfrm>
            <a:off x="2274307" y="6265807"/>
            <a:ext cx="6156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18 – Ошибка при поиске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76E43DB-9515-47B6-8498-C670E68CF54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276351"/>
            <a:ext cx="3209925" cy="166091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849ACF9-0891-4C14-9F35-CAB02BA2974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962525" y="1449090"/>
            <a:ext cx="7134402" cy="157261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A80C438-BE2E-4B73-9F25-440424A3B669}"/>
              </a:ext>
            </a:extLst>
          </p:cNvPr>
          <p:cNvPicPr/>
          <p:nvPr/>
        </p:nvPicPr>
        <p:blipFill rotWithShape="1">
          <a:blip r:embed="rId4"/>
          <a:srcRect l="36881" t="6256"/>
          <a:stretch/>
        </p:blipFill>
        <p:spPr>
          <a:xfrm>
            <a:off x="3533775" y="3678647"/>
            <a:ext cx="3877366" cy="259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815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B3FA289-727D-CF07-DA71-85F9FCDC3E44}"/>
              </a:ext>
            </a:extLst>
          </p:cNvPr>
          <p:cNvSpPr txBox="1">
            <a:spLocks/>
          </p:cNvSpPr>
          <p:nvPr/>
        </p:nvSpPr>
        <p:spPr>
          <a:xfrm>
            <a:off x="83820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АИС</a:t>
            </a:r>
            <a:endParaRPr lang="ru-RU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B76B8A-2A13-219D-6915-B98609636CA8}"/>
              </a:ext>
            </a:extLst>
          </p:cNvPr>
          <p:cNvSpPr txBox="1"/>
          <p:nvPr/>
        </p:nvSpPr>
        <p:spPr>
          <a:xfrm>
            <a:off x="-60158" y="5144849"/>
            <a:ext cx="6156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19 – Удаление записи из таблицы Договор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EF309E-BFF0-349C-8933-07D136B3FE73}"/>
              </a:ext>
            </a:extLst>
          </p:cNvPr>
          <p:cNvSpPr txBox="1"/>
          <p:nvPr/>
        </p:nvSpPr>
        <p:spPr>
          <a:xfrm>
            <a:off x="5846436" y="5144849"/>
            <a:ext cx="6156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20 – Результат удаления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E3429CB-F4EF-CB8F-5B10-CB957BA38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16</a:t>
            </a:fld>
            <a:r>
              <a:rPr lang="en-US" dirty="0"/>
              <a:t>/19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30FA9E-EE50-4E7C-8D17-F2CDF053B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06" y="1923337"/>
            <a:ext cx="6310967" cy="301132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043E5EB-2FFE-45B9-B89C-3669F46F0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119" y="2618651"/>
            <a:ext cx="5381625" cy="159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935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B206A-2F7B-9F0B-A065-B15AE8DFB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271" y="136525"/>
            <a:ext cx="10515600" cy="1325563"/>
          </a:xfrm>
        </p:spPr>
        <p:txBody>
          <a:bodyPr/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АИС</a:t>
            </a:r>
            <a:br>
              <a:rPr lang="ru-RU" sz="4400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5246A3-E0EA-EC91-E458-B0A5D12A7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17</a:t>
            </a:fld>
            <a:r>
              <a:rPr lang="en-US" dirty="0"/>
              <a:t>/19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D1407-D3A7-27BA-6B22-0C7762D8A1B5}"/>
              </a:ext>
            </a:extLst>
          </p:cNvPr>
          <p:cNvSpPr txBox="1"/>
          <p:nvPr/>
        </p:nvSpPr>
        <p:spPr>
          <a:xfrm>
            <a:off x="3026899" y="5571561"/>
            <a:ext cx="6098344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ctr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Изменение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записи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5A453B2-7B0F-4919-BB3A-A49FE2646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99DD098-6415-4DAD-A8BB-944FEEF2E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7532"/>
            <a:ext cx="10709032" cy="364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226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44E2B8-1AA8-7C81-31DF-0719CFFB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26718F-93FF-9C08-2CCC-887BBCDA7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61828"/>
          </a:xfrm>
        </p:spPr>
        <p:txBody>
          <a:bodyPr>
            <a:normAutofit/>
          </a:bodyPr>
          <a:lstStyle/>
          <a:p>
            <a:pPr marR="71755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ходе данной курсовой работы были решены поставленные задачи, направленные на создание Автоматизированной Информационной Системы (АИС) для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отдела по грузоперевозкам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Основное внимание уделялось разработке базы данных, обеспечивающей эффективное управление данными. Использование такой системы позволяет автоматизировать процессы оформления договоров.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03E233-010C-2899-9208-07A36AF08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E450-EAE8-4D1D-A792-B8D7B682BB12}" type="slidenum">
              <a:rPr lang="ru-RU" smtClean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8556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659</Words>
  <Application>Microsoft Office PowerPoint</Application>
  <PresentationFormat>Широкоэкранный</PresentationFormat>
  <Paragraphs>137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Cascadia Mono</vt:lpstr>
      <vt:lpstr>Liberation Serif</vt:lpstr>
      <vt:lpstr>Times New Roman</vt:lpstr>
      <vt:lpstr>Тема Office</vt:lpstr>
      <vt:lpstr>Муромский институт (филиал) федерального государственного бюджетного образовательного учреждения высшего образования «Владимирский государственный университет имени Александра Григорьевича и Николая Григорьевича Столетовых».</vt:lpstr>
      <vt:lpstr>Презентация PowerPoint</vt:lpstr>
      <vt:lpstr>Сравнение языков программирования</vt:lpstr>
      <vt:lpstr>Сравнение сред программирования</vt:lpstr>
      <vt:lpstr>Сравнение СУБД</vt:lpstr>
      <vt:lpstr>Концептуальная модель</vt:lpstr>
      <vt:lpstr>Логическая модель</vt:lpstr>
      <vt:lpstr>Физическая модель</vt:lpstr>
      <vt:lpstr>Создание SQL-запросов</vt:lpstr>
      <vt:lpstr>Создание SQL-запросов</vt:lpstr>
      <vt:lpstr>Тестирование АИС</vt:lpstr>
      <vt:lpstr>Тестирование АИС</vt:lpstr>
      <vt:lpstr>Тестирование АИС</vt:lpstr>
      <vt:lpstr>Тестирование АИС</vt:lpstr>
      <vt:lpstr>Тестирование АИС</vt:lpstr>
      <vt:lpstr>Презентация PowerPoint</vt:lpstr>
      <vt:lpstr>Тестирование АИС 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поиска наибольшего общего делителя двух чисел с использованием алгоритма Евклида и стандартных STL контейнеров</dc:title>
  <dc:creator>Ирина Фадеева</dc:creator>
  <cp:lastModifiedBy>Даниил</cp:lastModifiedBy>
  <cp:revision>21</cp:revision>
  <dcterms:created xsi:type="dcterms:W3CDTF">2024-04-14T08:58:09Z</dcterms:created>
  <dcterms:modified xsi:type="dcterms:W3CDTF">2024-12-26T17:44:42Z</dcterms:modified>
</cp:coreProperties>
</file>